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3217" y="2195349"/>
            <a:ext cx="1709018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775055" y="426888"/>
            <a:ext cx="17090187" cy="121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SPACs vs. Non-SP</a:t>
            </a:r>
            <a:r>
              <a:rPr lang="en-US" b="true" sz="3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ACs &amp; Index Inclusion Effects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113" y="3038260"/>
            <a:ext cx="17090187" cy="2887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Title: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IPO St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udy. Questions 5 &amp; 6: SPAC Performance &amp; Index Inclusion Impact.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Subtitle: 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Data-Driven Analysis of IPO Returns (2012–2023)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Presenter: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Date: 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71345" y="9255784"/>
            <a:ext cx="127377" cy="304141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558"/>
              </a:lnSpc>
              <a:spcBef>
                <a:spcPct val="0"/>
              </a:spcBef>
            </a:pPr>
            <a:r>
              <a:rPr lang="en-US" sz="18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05201" y="2812626"/>
            <a:ext cx="15081920" cy="743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9202" indent="-354601" lvl="1">
              <a:lnSpc>
                <a:spcPts val="4598"/>
              </a:lnSpc>
              <a:buFont typeface="Arial"/>
              <a:buChar char="•"/>
            </a:pPr>
            <a:r>
              <a:rPr lang="en-US" b="true" sz="32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Question 5:</a:t>
            </a:r>
          </a:p>
          <a:p>
            <a:pPr algn="just" marL="1418405" indent="-472802" lvl="2">
              <a:lnSpc>
                <a:spcPts val="4598"/>
              </a:lnSpc>
              <a:buFont typeface="Arial"/>
              <a:buChar char="⚬"/>
            </a:pPr>
            <a:r>
              <a:rPr lang="en-US" sz="32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 the IPO returns of SPACs versus non-SPACs.</a:t>
            </a:r>
          </a:p>
          <a:p>
            <a:pPr algn="just" marL="1418405" indent="-472802" lvl="2">
              <a:lnSpc>
                <a:spcPts val="4598"/>
              </a:lnSpc>
              <a:buFont typeface="Arial"/>
              <a:buChar char="⚬"/>
            </a:pPr>
            <a:r>
              <a:rPr lang="en-US" sz="32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Examine the risk and volatility differences</a:t>
            </a:r>
            <a:r>
              <a:rPr lang="en-US" sz="32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between SPACs and traditional IPOs.</a:t>
            </a:r>
          </a:p>
          <a:p>
            <a:pPr algn="just" marL="1418405" indent="-472802" lvl="2">
              <a:lnSpc>
                <a:spcPts val="4598"/>
              </a:lnSpc>
              <a:buFont typeface="Arial"/>
              <a:buChar char="⚬"/>
            </a:pPr>
            <a:r>
              <a:rPr lang="en-US" sz="32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Identify the frequency of abnormal returns in SPACs compared to non-SPACs.</a:t>
            </a:r>
          </a:p>
          <a:p>
            <a:pPr algn="just" marL="709202" indent="-354601" lvl="1">
              <a:lnSpc>
                <a:spcPts val="4598"/>
              </a:lnSpc>
              <a:buFont typeface="Arial"/>
              <a:buChar char="•"/>
            </a:pPr>
            <a:r>
              <a:rPr lang="en-US" b="true" sz="32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</a:t>
            </a:r>
            <a:r>
              <a:rPr lang="en-US" b="true" sz="328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uestion 6:</a:t>
            </a:r>
          </a:p>
          <a:p>
            <a:pPr algn="just" marL="1375226" indent="-458409" lvl="2">
              <a:lnSpc>
                <a:spcPts val="4458"/>
              </a:lnSpc>
              <a:buFont typeface="Arial"/>
              <a:buChar char="⚬"/>
            </a:pPr>
            <a:r>
              <a:rPr lang="en-US" sz="31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 the one-year IPO performance of stocks included in the S&amp;P vs those not included.</a:t>
            </a:r>
          </a:p>
          <a:p>
            <a:pPr algn="just" marL="1375226" indent="-458409" lvl="2">
              <a:lnSpc>
                <a:spcPts val="4458"/>
              </a:lnSpc>
              <a:buFont typeface="Arial"/>
              <a:buChar char="⚬"/>
            </a:pPr>
            <a:r>
              <a:rPr lang="en-US" sz="31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Evaluate the impact of index inclusion on post-IPO returns.</a:t>
            </a:r>
          </a:p>
          <a:p>
            <a:pPr algn="just" marL="1375226" indent="-458409" lvl="2">
              <a:lnSpc>
                <a:spcPts val="4458"/>
              </a:lnSpc>
              <a:buFont typeface="Arial"/>
              <a:buChar char="⚬"/>
            </a:pPr>
            <a:r>
              <a:rPr lang="en-US" sz="31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Assess</a:t>
            </a:r>
            <a:r>
              <a:rPr lang="en-US" sz="318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whether inclusion in the Russell1000 correlates with stronger IPO performance.</a:t>
            </a:r>
          </a:p>
          <a:p>
            <a:pPr algn="just">
              <a:lnSpc>
                <a:spcPts val="4598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209999" y="159703"/>
            <a:ext cx="1309294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 and Objectives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82059" y="227383"/>
            <a:ext cx="3955733" cy="195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5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estion 5:</a:t>
            </a:r>
          </a:p>
          <a:p>
            <a:pPr algn="l">
              <a:lnSpc>
                <a:spcPts val="78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934795" y="2133006"/>
            <a:ext cx="15252978" cy="43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Let u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examine whether the SPACs return differ from other IPO returns. The following starts with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returns on the IPO date.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(i) V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erify that the following code flags abnormal return and summarized day0 return by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SPACs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stock_ipos['day0_lvl'] = np.where ( stock_ipos['sym_day0_OTC'] &lt; 1 , 'normal', 'abnormal' 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stock_ipos.groupby(['day0_lvl','spac'])['sym_day0_OTC'].agg(['mean', 'median','std', 'count','min' ,'max'])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Comment on SPACs return with None-SPACs return on day 0.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(ii) Apply the analysis above, to 'sym_5day_ret' , sym_22day_ret, sym_91day_ret,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sym_91day_ret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82059" y="227383"/>
            <a:ext cx="7477959" cy="195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</a:t>
            </a:r>
            <a:r>
              <a:rPr lang="en-US" b="true" sz="5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estion 5: Objective</a:t>
            </a:r>
          </a:p>
          <a:p>
            <a:pPr algn="l">
              <a:lnSpc>
                <a:spcPts val="784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646124" y="1755332"/>
            <a:ext cx="17641876" cy="6955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 SPACs Deliver Different Returns Than Traditional IPOs?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We're Examining:</a:t>
            </a:r>
          </a:p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Initial (Day 0) performance differences</a:t>
            </a:r>
          </a:p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returns evolve over time</a:t>
            </a:r>
          </a:p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Volatility patterns across both groups</a:t>
            </a:r>
          </a:p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Risk-adjusted performance comparison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Hypothesis: SPACs may show stronger initial returns but weaker long-term performance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1700" y="5607515"/>
            <a:ext cx="6660910" cy="4163069"/>
          </a:xfrm>
          <a:custGeom>
            <a:avLst/>
            <a:gdLst/>
            <a:ahLst/>
            <a:cxnLst/>
            <a:rect r="r" b="b" t="t" l="l"/>
            <a:pathLst>
              <a:path h="4163069" w="6660910">
                <a:moveTo>
                  <a:pt x="0" y="0"/>
                </a:moveTo>
                <a:lnTo>
                  <a:pt x="6660910" y="0"/>
                </a:lnTo>
                <a:lnTo>
                  <a:pt x="6660910" y="4163069"/>
                </a:lnTo>
                <a:lnTo>
                  <a:pt x="0" y="41630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-123825"/>
            <a:ext cx="15211901" cy="1110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36"/>
              </a:lnSpc>
            </a:pPr>
            <a:r>
              <a:rPr lang="en-US" sz="652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Day-0 (IPO</a:t>
            </a:r>
            <a:r>
              <a:rPr lang="en-US" b="true" sz="652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Date) Return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65969" y="2670175"/>
            <a:ext cx="17122031" cy="364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Insight:</a:t>
            </a: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Day-0 returns were classified as “n</a:t>
            </a: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ormal” (&lt;1) and “abnormal” (≥1).</a:t>
            </a: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SPACs show a higher share of abnormal day-0 returns than non-SPAC IPOs.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What This Means:</a:t>
            </a: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SPAC IPOs tend to have larger first-day price pops.</a:t>
            </a:r>
          </a:p>
          <a:p>
            <a:pPr algn="l" marL="561337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However, SPAC first-day returns are also more volatile, with a wider spread between minimum and maximum.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31311" y="2300233"/>
            <a:ext cx="6270920" cy="5686533"/>
          </a:xfrm>
          <a:custGeom>
            <a:avLst/>
            <a:gdLst/>
            <a:ahLst/>
            <a:cxnLst/>
            <a:rect r="r" b="b" t="t" l="l"/>
            <a:pathLst>
              <a:path h="5686533" w="6270920">
                <a:moveTo>
                  <a:pt x="0" y="0"/>
                </a:moveTo>
                <a:lnTo>
                  <a:pt x="6270920" y="0"/>
                </a:lnTo>
                <a:lnTo>
                  <a:pt x="6270920" y="5686534"/>
                </a:lnTo>
                <a:lnTo>
                  <a:pt x="0" y="5686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203" y="-49235"/>
            <a:ext cx="16732091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b="true" sz="8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Interpretation of Day-0 Behavior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9021" y="2357754"/>
            <a:ext cx="8474979" cy="447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SPAC Characteristics Observed:</a:t>
            </a:r>
          </a:p>
          <a:p>
            <a:pPr algn="l" marL="690874" indent="-345437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 median and mean ret</a:t>
            </a: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urns than traditional IPOs.</a:t>
            </a:r>
          </a:p>
          <a:p>
            <a:pPr algn="l" marL="690874" indent="-345437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Larger standard deviation → riskier and less predictable performance.</a:t>
            </a:r>
          </a:p>
          <a:p>
            <a:pPr algn="l" marL="690874" indent="-345437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 of abnormal-return SPACs is noticeably higher than non-SPACs.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05762" y="2547113"/>
            <a:ext cx="6331678" cy="6290456"/>
          </a:xfrm>
          <a:custGeom>
            <a:avLst/>
            <a:gdLst/>
            <a:ahLst/>
            <a:cxnLst/>
            <a:rect r="r" b="b" t="t" l="l"/>
            <a:pathLst>
              <a:path h="6290456" w="6331678">
                <a:moveTo>
                  <a:pt x="0" y="0"/>
                </a:moveTo>
                <a:lnTo>
                  <a:pt x="6331677" y="0"/>
                </a:lnTo>
                <a:lnTo>
                  <a:pt x="6331677" y="6290456"/>
                </a:lnTo>
                <a:lnTo>
                  <a:pt x="0" y="6290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6537" y="200032"/>
            <a:ext cx="16966117" cy="157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5-Day,</a:t>
            </a:r>
            <a:r>
              <a:rPr lang="en-US" b="true" sz="45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22-Day, 91-Day, and 252-Day SPAC vs Non-SPAC Returns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7837" y="2453273"/>
            <a:ext cx="8891759" cy="4813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Observed Pattern: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 the wind</a:t>
            </a: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ow widens (5 days → 252 days), SPAC returns decline relative to non-SPAC IPOs.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gains made by SPACs tend to fade over time.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Non-SPAC IPOs generally outperform SPACs from the 1-month window onward.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Return Profile Summary: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5-day: SPAC outperformance becomes weaker.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22-day (1 month): Non-SPACs begin to lead.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91-day (quarter): SPAC performance drops further.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252-day (1 year): Non-SPAC IPOs clearly outperform SPACs on average and median.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60759"/>
            <a:ext cx="15421927" cy="90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420"/>
              </a:lnSpc>
            </a:pPr>
            <a:r>
              <a:rPr lang="en-US" sz="5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D</a:t>
            </a:r>
            <a:r>
              <a:rPr lang="en-US" b="true" sz="5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 SPACs Underperform Over Time?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5085" y="1957186"/>
            <a:ext cx="17542915" cy="4646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Possible explanati</a:t>
            </a: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ons:</a:t>
            </a:r>
          </a:p>
          <a:p>
            <a:pPr algn="l" marL="820411" indent="-410205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Heavy insider redemptions reduce long-term investor return.</a:t>
            </a:r>
          </a:p>
          <a:p>
            <a:pPr algn="l" marL="820411" indent="-410205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SPACs merge with speculative or unprofitable targets.</a:t>
            </a:r>
          </a:p>
          <a:p>
            <a:pPr algn="l" marL="820411" indent="-410205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 sentiment toward SPAC structure cooled significantly after 2021.</a:t>
            </a:r>
          </a:p>
          <a:p>
            <a:pPr algn="l" marL="820411" indent="-410205" lvl="1">
              <a:lnSpc>
                <a:spcPts val="5319"/>
              </a:lnSpc>
              <a:spcBef>
                <a:spcPct val="0"/>
              </a:spcBef>
              <a:buFont typeface="Arial"/>
              <a:buChar char="•"/>
            </a:pPr>
            <a:r>
              <a:rPr lang="en-US" sz="3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Dilution from sponsor shares suppresses long-term performance.</a:t>
            </a:r>
          </a:p>
          <a:p>
            <a:pPr algn="l">
              <a:lnSpc>
                <a:spcPts val="53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23381" y="590641"/>
            <a:ext cx="4098131" cy="795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QUESTION 6: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1838" y="1622890"/>
            <a:ext cx="18006162" cy="1780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ompare the performance IPO return between stock that made to be included in the S&amp;P </a:t>
            </a: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 those that were not included in the S&amp;P. You may focus on one-year-returns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(i) Answer the above question for the Russell1000.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379263"/>
            <a:ext cx="17231107" cy="1623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QUESTION 6: IPO Returns: S&amp;P 500 Inclusion vs Not Included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9913" y="2836544"/>
            <a:ext cx="17231107" cy="2306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Only a small fraction </a:t>
            </a: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of IPOs later qualify for major indexes.</a:t>
            </a:r>
          </a:p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Inclusion requires large market cap, profitability, liquidity, and operating history.</a:t>
            </a:r>
          </a:p>
          <a:p>
            <a:pPr algn="l" marL="712464" indent="-356232" lvl="1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Index-included firms have fundamentally stronger performance characteristics.</a:t>
            </a:r>
          </a:p>
          <a:p>
            <a:pPr algn="l">
              <a:lnSpc>
                <a:spcPts val="46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14803" y="3963885"/>
            <a:ext cx="6915797" cy="4322373"/>
          </a:xfrm>
          <a:custGeom>
            <a:avLst/>
            <a:gdLst/>
            <a:ahLst/>
            <a:cxnLst/>
            <a:rect r="r" b="b" t="t" l="l"/>
            <a:pathLst>
              <a:path h="4322373" w="6915797">
                <a:moveTo>
                  <a:pt x="0" y="0"/>
                </a:moveTo>
                <a:lnTo>
                  <a:pt x="6915797" y="0"/>
                </a:lnTo>
                <a:lnTo>
                  <a:pt x="6915797" y="4322373"/>
                </a:lnTo>
                <a:lnTo>
                  <a:pt x="0" y="4322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-142875"/>
            <a:ext cx="16230600" cy="263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40"/>
              </a:lnSpc>
            </a:pPr>
            <a:r>
              <a:rPr lang="en-US" sz="76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S&amp;P 500:</a:t>
            </a:r>
            <a:r>
              <a:rPr lang="en-US" b="true" sz="7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One-Year Return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0195" y="3130729"/>
            <a:ext cx="7549926" cy="594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S&amp;P-included IPOs: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ong positive one-year returns.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 average and median returns.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 volatility.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Rarely collapse after IPO.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Non-S&amp;P IPOs: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Much lower average 1-year return.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 chance of negative or extremely poor returns.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Higher volatility and greater risk.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84507" y="2487068"/>
            <a:ext cx="12305943" cy="492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They are the best c</a:t>
            </a: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ompanies from each IPO cohort.</a:t>
            </a:r>
          </a:p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Index inclusion attracts:</a:t>
            </a:r>
          </a:p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Index-fund buying</a:t>
            </a:r>
          </a:p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ETF flows</a:t>
            </a:r>
          </a:p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Analyst coverage</a:t>
            </a:r>
          </a:p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Institutional ownership</a:t>
            </a:r>
          </a:p>
          <a:p>
            <a:pPr algn="l" marL="755642" indent="-377821" lvl="1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All these forces support long-term price performance.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06502" y="368302"/>
            <a:ext cx="12619196" cy="198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S&amp;P Inclu</a:t>
            </a:r>
            <a:r>
              <a:rPr lang="en-US" b="true" sz="57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ded IPOs Outperform</a:t>
            </a:r>
          </a:p>
          <a:p>
            <a:pPr algn="ctr">
              <a:lnSpc>
                <a:spcPts val="798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59151" y="3071409"/>
            <a:ext cx="6838727" cy="5129045"/>
          </a:xfrm>
          <a:custGeom>
            <a:avLst/>
            <a:gdLst/>
            <a:ahLst/>
            <a:cxnLst/>
            <a:rect r="r" b="b" t="t" l="l"/>
            <a:pathLst>
              <a:path h="5129045" w="6838727">
                <a:moveTo>
                  <a:pt x="0" y="0"/>
                </a:moveTo>
                <a:lnTo>
                  <a:pt x="6838727" y="0"/>
                </a:lnTo>
                <a:lnTo>
                  <a:pt x="6838727" y="5129046"/>
                </a:lnTo>
                <a:lnTo>
                  <a:pt x="0" y="5129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3217" y="-161925"/>
            <a:ext cx="17794783" cy="288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0"/>
              </a:lnSpc>
            </a:pPr>
            <a:r>
              <a:rPr lang="en-US" sz="83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Russell</a:t>
            </a:r>
            <a:r>
              <a:rPr lang="en-US" b="true" sz="8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1000: One-Year Return Comparison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7909" y="3140254"/>
            <a:ext cx="7090277" cy="28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Russell-included IPOs:</a:t>
            </a:r>
          </a:p>
          <a:p>
            <a:pPr algn="l" marL="444252" indent="-222126" lvl="1">
              <a:lnSpc>
                <a:spcPts val="2880"/>
              </a:lnSpc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1-year returns.</a:t>
            </a:r>
          </a:p>
          <a:p>
            <a:pPr algn="l" marL="444252" indent="-222126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ore stable performance.</a:t>
            </a:r>
          </a:p>
          <a:p>
            <a:pPr algn="l" marL="444252" indent="-222126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Less volatility.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Non-Russell IPOs:</a:t>
            </a:r>
          </a:p>
          <a:p>
            <a:pPr algn="l" marL="444252" indent="-222126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 returns and more variation.</a:t>
            </a:r>
          </a:p>
          <a:p>
            <a:pPr algn="l" marL="444252" indent="-222126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0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More companies fail to sustain early IPO momentum.</a:t>
            </a: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36219" y="-329638"/>
            <a:ext cx="14864358" cy="1219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Russell</a:t>
            </a:r>
            <a:r>
              <a:rPr lang="en-US" b="true" sz="7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1000 Inclusion Helps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2083" y="1864224"/>
            <a:ext cx="14864358" cy="4312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instituti</a:t>
            </a: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onal funds benchmark the Russell 1000.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Inclusion increases demand for the company’s stock.</a:t>
            </a:r>
          </a:p>
          <a:p>
            <a:pPr algn="l" marL="669285" indent="-334642" lvl="1">
              <a:lnSpc>
                <a:spcPts val="4339"/>
              </a:lnSpc>
              <a:spcBef>
                <a:spcPct val="0"/>
              </a:spcBef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Companies that enter Russell 1000 are generally:</a:t>
            </a:r>
          </a:p>
          <a:p>
            <a:pPr algn="l" marL="1338569" indent="-446190" lvl="2">
              <a:lnSpc>
                <a:spcPts val="4339"/>
              </a:lnSpc>
              <a:spcBef>
                <a:spcPct val="0"/>
              </a:spcBef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Large-cap</a:t>
            </a:r>
          </a:p>
          <a:p>
            <a:pPr algn="l" marL="1338569" indent="-446190" lvl="2">
              <a:lnSpc>
                <a:spcPts val="4339"/>
              </a:lnSpc>
              <a:spcBef>
                <a:spcPct val="0"/>
              </a:spcBef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Established</a:t>
            </a:r>
          </a:p>
          <a:p>
            <a:pPr algn="l" marL="1338569" indent="-446190" lvl="2">
              <a:lnSpc>
                <a:spcPts val="4339"/>
              </a:lnSpc>
              <a:spcBef>
                <a:spcPct val="0"/>
              </a:spcBef>
              <a:buFont typeface="Arial"/>
              <a:buChar char="⚬"/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Profitable or rapidly growing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Thus their IPO performance tends to sustain better for one year.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6386" y="-161925"/>
            <a:ext cx="17593390" cy="1434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60"/>
              </a:lnSpc>
            </a:pPr>
            <a:r>
              <a:rPr lang="en-US" sz="84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</a:t>
            </a:r>
            <a:r>
              <a:rPr lang="en-US" b="true" sz="8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all Conclusion for Question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0554" y="2302829"/>
            <a:ext cx="17607446" cy="412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IPO c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ompanies that get included in the S&amp;P 500 or Russell 1000 substantially outperform IPO companies that never join the index.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Why?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Strong fundamentals.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Greater market attention.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Institutional investment flows.</a:t>
            </a:r>
          </a:p>
          <a:p>
            <a:pPr algn="l" marL="539748" indent="-269874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financial stability.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DAG6X4-jXKo</dc:identifier>
  <dcterms:modified xsi:type="dcterms:W3CDTF">2011-08-01T06:04:30Z</dcterms:modified>
  <cp:revision>1</cp:revision>
  <dc:title>Your paragraph text</dc:title>
</cp:coreProperties>
</file>