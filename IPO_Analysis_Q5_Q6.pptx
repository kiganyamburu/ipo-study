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E86AB"/>
                </a:solidFill>
              </a:defRPr>
            </a:pPr>
            <a:r>
              <a:t>IPO Analysis: Questions 5 &amp;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SPAC vs Non-SPAC Returns and Index Inclusion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86AB"/>
                </a:solidFill>
              </a:defRPr>
            </a:pPr>
            <a:r>
              <a:t>Analysis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t>Question 5: Examining SPAC vs Non-SPAC IPO Returns</a:t>
            </a:r>
          </a:p>
          <a:p>
            <a:pPr>
              <a:spcBef>
                <a:spcPts val="600"/>
              </a:spcBef>
              <a:defRPr sz="1600"/>
            </a:pPr>
            <a:r>
              <a:t>  • Day 0 return analysis with abnormal return flagging</a:t>
            </a:r>
          </a:p>
          <a:p>
            <a:pPr>
              <a:spcBef>
                <a:spcPts val="600"/>
              </a:spcBef>
              <a:defRPr sz="1600"/>
            </a:pPr>
            <a:r>
              <a:t>  • Multi-window return comparison (5-day, 22-day, 91-day, 252-day)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Question 6: Index Inclusion Performance Analysis</a:t>
            </a:r>
          </a:p>
          <a:p>
            <a:pPr>
              <a:spcBef>
                <a:spcPts val="600"/>
              </a:spcBef>
              <a:defRPr sz="1600"/>
            </a:pPr>
            <a:r>
              <a:t>  • S&amp;P 500 inclusion impact on 1-year returns</a:t>
            </a:r>
          </a:p>
          <a:p>
            <a:pPr>
              <a:spcBef>
                <a:spcPts val="600"/>
              </a:spcBef>
              <a:defRPr sz="1600"/>
            </a:pPr>
            <a:r>
              <a:t>  • Russell 1000 inclusion impact on 1-year returns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Dataset: 3,681 IPOs (251 SPACs, 3,430 Non-SPACs)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</a:defRPr>
            </a:pPr>
            <a:r>
              <a:t>Question 5(i): Day 0 Return Analysis -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t># Flag abnormal returns (&gt;= 100%)</a:t>
            </a:r>
          </a:p>
          <a:p>
            <a:pPr>
              <a:defRPr sz="1200">
                <a:latin typeface="Courier New"/>
              </a:defRPr>
            </a:pPr>
            <a:r>
              <a:t>stock_ipos['day0_lvl'] = np.where(</a:t>
            </a:r>
          </a:p>
          <a:p>
            <a:pPr>
              <a:defRPr sz="1200">
                <a:latin typeface="Courier New"/>
              </a:defRPr>
            </a:pPr>
            <a:r>
              <a:t>    stock_ipos['sym_day0_OTC'] &lt; 1, </a:t>
            </a:r>
          </a:p>
          <a:p>
            <a:pPr>
              <a:defRPr sz="1200">
                <a:latin typeface="Courier New"/>
              </a:defRPr>
            </a:pPr>
            <a:r>
              <a:t>    'normal', </a:t>
            </a:r>
          </a:p>
          <a:p>
            <a:pPr>
              <a:defRPr sz="1200">
                <a:latin typeface="Courier New"/>
              </a:defRPr>
            </a:pPr>
            <a:r>
              <a:t>    'abnormal'</a:t>
            </a:r>
          </a:p>
          <a:p>
            <a:pPr>
              <a:defRPr sz="1200">
                <a:latin typeface="Courier New"/>
              </a:defRPr>
            </a:pPr>
            <a:r>
              <a:t>)</a:t>
            </a:r>
          </a:p>
          <a:p>
            <a:pPr>
              <a:defRPr sz="1200">
                <a:latin typeface="Courier New"/>
              </a:defRPr>
            </a:pPr>
          </a:p>
          <a:p>
            <a:pPr>
              <a:defRPr sz="1200">
                <a:latin typeface="Courier New"/>
              </a:defRPr>
            </a:pPr>
            <a:r>
              <a:t># Summary statistics by level and SPAC status</a:t>
            </a:r>
          </a:p>
          <a:p>
            <a:pPr>
              <a:defRPr sz="1200">
                <a:latin typeface="Courier New"/>
              </a:defRPr>
            </a:pPr>
            <a:r>
              <a:t>day0_summary = stock_ipos.groupby(</a:t>
            </a:r>
          </a:p>
          <a:p>
            <a:pPr>
              <a:defRPr sz="1200">
                <a:latin typeface="Courier New"/>
              </a:defRPr>
            </a:pPr>
            <a:r>
              <a:t>    ['day0_lvl', 'spac']</a:t>
            </a:r>
          </a:p>
          <a:p>
            <a:pPr>
              <a:defRPr sz="1200">
                <a:latin typeface="Courier New"/>
              </a:defRPr>
            </a:pPr>
            <a:r>
              <a:t>)['sym_day0_OTC'].agg([</a:t>
            </a:r>
          </a:p>
          <a:p>
            <a:pPr>
              <a:defRPr sz="1200">
                <a:latin typeface="Courier New"/>
              </a:defRPr>
            </a:pPr>
            <a:r>
              <a:t>    'mean', 'median', 'std', 'count', 'min', 'max'</a:t>
            </a:r>
          </a:p>
          <a:p>
            <a:pPr>
              <a:defRPr sz="1200">
                <a:latin typeface="Courier New"/>
              </a:defRPr>
            </a:pPr>
            <a:r>
              <a:t>])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</a:defRPr>
            </a:pPr>
            <a:r>
              <a:t>Question 5(i): Day 0 Return Statistics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097280"/>
          <a:ext cx="76809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192"/>
                <a:gridCol w="1536192"/>
                <a:gridCol w="1536192"/>
                <a:gridCol w="1536192"/>
                <a:gridCol w="1536192"/>
              </a:tblGrid>
              <a:tr h="12573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Mean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Median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Std Dev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Abnormal, Non-SPAC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2.918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Normal, Non-SPAC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3,400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Normal, SPAC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</a:defRPr>
            </a:pPr>
            <a:r>
              <a:t>Question 5(i): Day 0 Returns - Visual Comparison</a:t>
            </a:r>
          </a:p>
        </p:txBody>
      </p:sp>
      <p:pic>
        <p:nvPicPr>
          <p:cNvPr id="3" name="Picture 2" descr="day0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25748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SPACs show lower but more stable Day 0 returns compared to Non-SPACs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86AB"/>
                </a:solidFill>
              </a:defRPr>
            </a:pPr>
            <a:r>
              <a:t>Question 5(i): 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t>SPACs have lower and negative mean Day 0 returns:</a:t>
            </a:r>
          </a:p>
          <a:p>
            <a:pPr>
              <a:spcBef>
                <a:spcPts val="600"/>
              </a:spcBef>
              <a:defRPr sz="1600"/>
            </a:pPr>
            <a:r>
              <a:t>  • SPACs: -0.88% vs Non-SPACs: +2.09%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SPACs show significantly lower volatility:</a:t>
            </a:r>
          </a:p>
          <a:p>
            <a:pPr>
              <a:spcBef>
                <a:spcPts val="600"/>
              </a:spcBef>
              <a:defRPr sz="1600"/>
            </a:pPr>
            <a:r>
              <a:t>  • SPAC std dev: 0.070 vs Non-SPAC: 0.408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Abnormal returns (≥100%) only occur in Non-SPACs:</a:t>
            </a:r>
          </a:p>
          <a:p>
            <a:pPr>
              <a:spcBef>
                <a:spcPts val="600"/>
              </a:spcBef>
              <a:defRPr sz="1600"/>
            </a:pPr>
            <a:r>
              <a:t>  • 30 cases with mean return of 292%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Both groups have median returns of 0%:</a:t>
            </a:r>
          </a:p>
          <a:p>
            <a:pPr>
              <a:spcBef>
                <a:spcPts val="600"/>
              </a:spcBef>
              <a:defRPr sz="1600"/>
            </a:pPr>
            <a:r>
              <a:t>  • Suggests many IPOs trade at offer price on Day 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</a:defRPr>
            </a:pPr>
            <a:r>
              <a:t>Question 5(ii): Multi-Window Analysis -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t># Analyze returns across multiple windows</a:t>
            </a:r>
          </a:p>
          <a:p>
            <a:pPr>
              <a:defRPr sz="1200">
                <a:latin typeface="Courier New"/>
              </a:defRPr>
            </a:pPr>
            <a:r>
              <a:t>windows = ['sym_5day_ret', 'sym_22day_ret', </a:t>
            </a:r>
          </a:p>
          <a:p>
            <a:pPr>
              <a:defRPr sz="1200">
                <a:latin typeface="Courier New"/>
              </a:defRPr>
            </a:pPr>
            <a:r>
              <a:t>           'sym_91day_ret', 'sym_252day_ret']</a:t>
            </a:r>
          </a:p>
          <a:p>
            <a:pPr>
              <a:defRPr sz="1200">
                <a:latin typeface="Courier New"/>
              </a:defRPr>
            </a:pPr>
          </a:p>
          <a:p>
            <a:pPr>
              <a:defRPr sz="1200">
                <a:latin typeface="Courier New"/>
              </a:defRPr>
            </a:pPr>
            <a:r>
              <a:t>for window in windows:</a:t>
            </a:r>
          </a:p>
          <a:p>
            <a:pPr>
              <a:defRPr sz="1200">
                <a:latin typeface="Courier New"/>
              </a:defRPr>
            </a:pPr>
            <a:r>
              <a:t>    summary = stock_ipos.groupby('spac')[window].agg([</a:t>
            </a:r>
          </a:p>
          <a:p>
            <a:pPr>
              <a:defRPr sz="1200">
                <a:latin typeface="Courier New"/>
              </a:defRPr>
            </a:pPr>
            <a:r>
              <a:t>        'mean', 'median', 'std', 'count'</a:t>
            </a:r>
          </a:p>
          <a:p>
            <a:pPr>
              <a:defRPr sz="1200">
                <a:latin typeface="Courier New"/>
              </a:defRPr>
            </a:pPr>
            <a:r>
              <a:t>    ])</a:t>
            </a:r>
          </a:p>
          <a:p>
            <a:pPr>
              <a:defRPr sz="1200">
                <a:latin typeface="Courier New"/>
              </a:defRPr>
            </a:pPr>
            <a:r>
              <a:t>    print(f"{window} Statistics:")</a:t>
            </a:r>
          </a:p>
          <a:p>
            <a:pPr>
              <a:defRPr sz="1200">
                <a:latin typeface="Courier New"/>
              </a:defRPr>
            </a:pPr>
            <a:r>
              <a:t>    print(summary)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</a:defRPr>
            </a:pPr>
            <a:r>
              <a:t>Question 5(ii): Mean Returns &amp; Volatility by Window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097280"/>
          <a:ext cx="76809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192"/>
                <a:gridCol w="1536192"/>
                <a:gridCol w="1536192"/>
                <a:gridCol w="1536192"/>
                <a:gridCol w="1536192"/>
              </a:tblGrid>
              <a:tr h="10058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Window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Non-SPAC Mean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SPAC Mean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Non-SPAC Std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SPAC Std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5-day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0.276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22-day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1.344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0.377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91-day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0.477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252-day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0.157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</a:defRPr>
            </a:pPr>
            <a:r>
              <a:t>Question 5(ii): Mean Returns Across Time Windows</a:t>
            </a:r>
          </a:p>
        </p:txBody>
      </p:sp>
      <p:pic>
        <p:nvPicPr>
          <p:cNvPr id="3" name="Picture 2" descr="multiwindow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36155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Non-SPACs consistently outperform SPACs across all time horizons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</a:defRPr>
            </a:pPr>
            <a:r>
              <a:t>Question 5(ii): Return Volatility Comparison</a:t>
            </a:r>
          </a:p>
        </p:txBody>
      </p:sp>
      <p:pic>
        <p:nvPicPr>
          <p:cNvPr id="3" name="Picture 2" descr="volatilit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36155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SPACs demonstrate consistently lower volatility than Non-SPACs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</a:defRPr>
            </a:pPr>
            <a:r>
              <a:t>Question 6: Index Inclusion Analysis -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t># S&amp;P 500 inclusion performance</a:t>
            </a:r>
          </a:p>
          <a:p>
            <a:pPr>
              <a:defRPr sz="1200">
                <a:latin typeface="Courier New"/>
              </a:defRPr>
            </a:pPr>
            <a:r>
              <a:t>sp_performance = stock_ipos.groupby('sp')[</a:t>
            </a:r>
          </a:p>
          <a:p>
            <a:pPr>
              <a:defRPr sz="1200">
                <a:latin typeface="Courier New"/>
              </a:defRPr>
            </a:pPr>
            <a:r>
              <a:t>    'sym_252day_ret'</a:t>
            </a:r>
          </a:p>
          <a:p>
            <a:pPr>
              <a:defRPr sz="1200">
                <a:latin typeface="Courier New"/>
              </a:defRPr>
            </a:pPr>
            <a:r>
              <a:t>].agg(['mean', 'median', 'std', 'count'])</a:t>
            </a:r>
          </a:p>
          <a:p>
            <a:pPr>
              <a:defRPr sz="1200">
                <a:latin typeface="Courier New"/>
              </a:defRPr>
            </a:pPr>
          </a:p>
          <a:p>
            <a:pPr>
              <a:defRPr sz="1200">
                <a:latin typeface="Courier New"/>
              </a:defRPr>
            </a:pPr>
            <a:r>
              <a:t># Russell 1000 inclusion performance</a:t>
            </a:r>
          </a:p>
          <a:p>
            <a:pPr>
              <a:defRPr sz="1200">
                <a:latin typeface="Courier New"/>
              </a:defRPr>
            </a:pPr>
            <a:r>
              <a:t>russell_performance = stock_ipos.groupby('russell')[</a:t>
            </a:r>
          </a:p>
          <a:p>
            <a:pPr>
              <a:defRPr sz="1200">
                <a:latin typeface="Courier New"/>
              </a:defRPr>
            </a:pPr>
            <a:r>
              <a:t>    'sym_252day_ret'</a:t>
            </a:r>
          </a:p>
          <a:p>
            <a:pPr>
              <a:defRPr sz="1200">
                <a:latin typeface="Courier New"/>
              </a:defRPr>
            </a:pPr>
            <a:r>
              <a:t>].agg(['mean', 'median', 'std', 'count'])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</a:defRPr>
            </a:pPr>
            <a:r>
              <a:t>Question 6: Index Inclusion Performance (1-Year Returns)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097280"/>
          <a:ext cx="76809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10058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Mean Return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Median Return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in S&amp;P 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3,630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 S&amp;P 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51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in Russell 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3,538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 Russell 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143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86AB"/>
                </a:solidFill>
              </a:defRPr>
            </a:pPr>
            <a:r>
              <a:t>Key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t>Question 5 - SPAC vs Non-SPAC Performance:</a:t>
            </a:r>
          </a:p>
          <a:p>
            <a:pPr>
              <a:spcBef>
                <a:spcPts val="600"/>
              </a:spcBef>
              <a:defRPr sz="1600"/>
            </a:pPr>
            <a:r>
              <a:t>  • SPACs underperform across all time horizons</a:t>
            </a:r>
          </a:p>
          <a:p>
            <a:pPr>
              <a:spcBef>
                <a:spcPts val="600"/>
              </a:spcBef>
              <a:defRPr sz="1600"/>
            </a:pPr>
            <a:r>
              <a:t>  • SPACs offer lower volatility and more stable returns</a:t>
            </a:r>
          </a:p>
          <a:p>
            <a:pPr>
              <a:spcBef>
                <a:spcPts val="600"/>
              </a:spcBef>
              <a:defRPr sz="1600"/>
            </a:pPr>
            <a:r>
              <a:t>  • Non-SPACs have extreme outliers (both positive and negative)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Question 6 - Index Inclusion Impact:</a:t>
            </a:r>
          </a:p>
          <a:p>
            <a:pPr>
              <a:spcBef>
                <a:spcPts val="600"/>
              </a:spcBef>
              <a:defRPr sz="1600"/>
            </a:pPr>
            <a:r>
              <a:t>  • Index inclusion strongly predicts superior performance</a:t>
            </a:r>
          </a:p>
          <a:p>
            <a:pPr>
              <a:spcBef>
                <a:spcPts val="600"/>
              </a:spcBef>
              <a:defRPr sz="1600"/>
            </a:pPr>
            <a:r>
              <a:t>  • S&amp;P 500 included: 29.3% vs 3.7% mean 1-year return</a:t>
            </a:r>
          </a:p>
          <a:p>
            <a:pPr>
              <a:spcBef>
                <a:spcPts val="600"/>
              </a:spcBef>
              <a:defRPr sz="1600"/>
            </a:pPr>
            <a:r>
              <a:t>  • Russell 1000 included: 28.2% vs 3.1% mean 1-year return</a:t>
            </a:r>
          </a:p>
          <a:p>
            <a:pPr>
              <a:spcBef>
                <a:spcPts val="600"/>
              </a:spcBef>
              <a:defRPr sz="1600"/>
            </a:pPr>
            <a:r>
              <a:t>  • Included stocks show lower volatility despite higher returns</a:t>
            </a:r>
          </a:p>
          <a:p>
            <a:pPr>
              <a:spcBef>
                <a:spcPts val="600"/>
              </a:spcBef>
              <a:defRPr sz="1600"/>
            </a:pPr>
            <a:r>
              <a:t>  • Very selective: only 1.4% achieve S&amp;P 500, 3.9% Russell 1000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